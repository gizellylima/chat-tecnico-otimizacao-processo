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71" r:id="rId3"/>
    <p:sldId id="279" r:id="rId4"/>
    <p:sldId id="281" r:id="rId5"/>
    <p:sldId id="280" r:id="rId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m-vindos" id="{E75E278A-FF0E-49A4-B170-79828D63BBAD}">
          <p14:sldIdLst>
            <p14:sldId id="256"/>
          </p14:sldIdLst>
        </p14:section>
        <p14:section name="Design, Transformar, Anotação, Trabalhe em Conjunto, Diga-me" id="{B9B51309-D148-4332-87C2-07BE32FBCA3B}">
          <p14:sldIdLst>
            <p14:sldId id="271"/>
            <p14:sldId id="279"/>
            <p14:sldId id="281"/>
            <p14:sldId id="280"/>
          </p14:sldIdLst>
        </p14:section>
        <p14:section name="Saiba Mais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  <p:cmAuthor id="6" name="Gizelly Lima" initials="GL" lastIdx="2" clrIdx="5">
    <p:extLst>
      <p:ext uri="{19B8F6BF-5375-455C-9EA6-DF929625EA0E}">
        <p15:presenceInfo xmlns:p15="http://schemas.microsoft.com/office/powerpoint/2012/main" userId="cde4b343edcc1e7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291" autoAdjust="0"/>
  </p:normalViewPr>
  <p:slideViewPr>
    <p:cSldViewPr snapToGrid="0">
      <p:cViewPr>
        <p:scale>
          <a:sx n="62" d="100"/>
          <a:sy n="62" d="100"/>
        </p:scale>
        <p:origin x="138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" dt="2025-12-19T20:16:36.098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  <p:cm authorId="6" dt="2025-12-19T20:34:42.913" idx="2">
    <p:pos x="146" y="146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E8EFE0-5F29-4A8F-882F-2C5E3702D946}" type="datetime1">
              <a:rPr lang="pt-BR" smtClean="0"/>
              <a:t>19/12/2025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5AE-A572-46FB-8F05-B028884B90C4}" type="datetime1">
              <a:rPr lang="pt-BR" smtClean="0"/>
              <a:pPr/>
              <a:t>19/12/2025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04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0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985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36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cxnSp>
        <p:nvCxnSpPr>
          <p:cNvPr id="12" name="Conector Re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 dirty="0"/>
              <a:t>Quinto nível</a:t>
            </a:r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DFFABA16-A60E-4C58-9DC9-284576B05B35}" type="datetime1">
              <a:rPr lang="pt-BR" noProof="0" smtClean="0"/>
              <a:t>19/12/2025</a:t>
            </a:fld>
            <a:endParaRPr lang="pt-BR" noProof="0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8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10" name="Retâ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Clique para editar o texto Mestre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BR" sz="1800" noProof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495CCA5C-24EB-4738-B463-0ADFEF5D3564}" type="datetime1">
              <a:rPr lang="pt-BR" noProof="0" smtClean="0"/>
              <a:t>19/12/2025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1137793"/>
          </a:xfrm>
        </p:spPr>
        <p:txBody>
          <a:bodyPr rtlCol="0" anchor="ctr" anchorCtr="0">
            <a:normAutofit fontScale="90000"/>
          </a:bodyPr>
          <a:lstStyle/>
          <a:p>
            <a:r>
              <a:rPr lang="pt-BR" sz="4800" dirty="0"/>
              <a:t>Otimização do Chat Técnico – Validação de Evidências</a:t>
            </a: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pt-BR" sz="2400" dirty="0"/>
              <a:t>Redução de retrabalho e melhoria de indicadores operacionais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9347723" cy="640080"/>
          </a:xfrm>
        </p:spPr>
        <p:txBody>
          <a:bodyPr rtlCol="0">
            <a:noAutofit/>
          </a:bodyPr>
          <a:lstStyle/>
          <a:p>
            <a:r>
              <a:rPr lang="en-US" b="1" dirty="0" err="1"/>
              <a:t>Fluxo</a:t>
            </a:r>
            <a:r>
              <a:rPr lang="en-US" b="1" dirty="0"/>
              <a:t> de </a:t>
            </a:r>
            <a:r>
              <a:rPr lang="en-US" b="1" dirty="0" err="1"/>
              <a:t>Atendimento</a:t>
            </a:r>
            <a:r>
              <a:rPr lang="en-US" b="1" dirty="0"/>
              <a:t> – Chat </a:t>
            </a:r>
            <a:r>
              <a:rPr lang="en-US" b="1" dirty="0" err="1"/>
              <a:t>Motivo</a:t>
            </a:r>
            <a:r>
              <a:rPr lang="en-US" b="1" dirty="0"/>
              <a:t> Técnico</a:t>
            </a:r>
            <a:endParaRPr lang="pt-BR" b="1" dirty="0"/>
          </a:p>
        </p:txBody>
      </p:sp>
      <p:sp>
        <p:nvSpPr>
          <p:cNvPr id="38" name="Espaço Reservado para Conteúdo 17"/>
          <p:cNvSpPr txBox="1">
            <a:spLocks/>
          </p:cNvSpPr>
          <p:nvPr/>
        </p:nvSpPr>
        <p:spPr>
          <a:xfrm>
            <a:off x="541610" y="1524707"/>
            <a:ext cx="4321704" cy="4885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Técnico acessa o chat sem evidência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Atendimento é iniciado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Evidências são Solicitadas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Técnico não anexou as evidências solicitadas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Chamada é encerrada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Nova chamada é gerada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Nessa fase o operador tem que buscar se ele anexou as referidas evidências, e no atendimento é informado que precisa buscar as evidências e retornar ao chat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Isso impacta negativamente as métricas, aumenta TMA /TME e principalmente nível de serviço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rtl="0">
              <a:spcAft>
                <a:spcPts val="600"/>
              </a:spcAft>
              <a:buNone/>
              <a:defRPr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614D7D-EE8F-08B9-7DA1-C53FAF15D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455" y="1350561"/>
            <a:ext cx="6531244" cy="52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Problema</a:t>
            </a:r>
          </a:p>
        </p:txBody>
      </p:sp>
      <p:sp>
        <p:nvSpPr>
          <p:cNvPr id="25" name="Espaço Reservado para Conteúdo 17"/>
          <p:cNvSpPr txBox="1">
            <a:spLocks/>
          </p:cNvSpPr>
          <p:nvPr/>
        </p:nvSpPr>
        <p:spPr>
          <a:xfrm>
            <a:off x="521207" y="1502454"/>
            <a:ext cx="5121037" cy="4502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rtl="0">
              <a:spcAft>
                <a:spcPts val="2000"/>
              </a:spcAft>
              <a:buNone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upo 17" descr="Círculo pequeno com o número 1 dentro indicando a etapa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20" name="Caixa de texto 19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Espaço Reservado para Conteúdo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Aumento de TMA</a:t>
            </a: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33" name="Grupo 32" descr="Círculo pequeno com o número 2 dentro indicando a etapa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35" name="Caixa de texto 34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Espaço Reservado para Conteúdo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Aumento de TME</a:t>
            </a:r>
          </a:p>
        </p:txBody>
      </p:sp>
      <p:grpSp>
        <p:nvGrpSpPr>
          <p:cNvPr id="22" name="Grupo 21" descr="Círculo pequeno com o número 3 dentro indicando a etapa 3"/>
          <p:cNvGrpSpPr/>
          <p:nvPr/>
        </p:nvGrpSpPr>
        <p:grpSpPr bwMode="blackWhite">
          <a:xfrm>
            <a:off x="509771" y="3569125"/>
            <a:ext cx="558179" cy="409838"/>
            <a:chOff x="6953426" y="711274"/>
            <a:chExt cx="558179" cy="409838"/>
          </a:xfrm>
        </p:grpSpPr>
        <p:sp>
          <p:nvSpPr>
            <p:cNvPr id="24" name="Oval 2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30" name="Caixa de texto 29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Espaço Reservado para Conteúdo 17"/>
          <p:cNvSpPr txBox="1">
            <a:spLocks/>
          </p:cNvSpPr>
          <p:nvPr/>
        </p:nvSpPr>
        <p:spPr>
          <a:xfrm>
            <a:off x="991252" y="3479589"/>
            <a:ext cx="4569513" cy="151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Queda de nível de serviço</a:t>
            </a:r>
            <a:endParaRPr lang="pt-BR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37" name="Grupo 36" descr="Círculo pequeno com o número 4 dentro indicando a etapa 4"/>
          <p:cNvGrpSpPr/>
          <p:nvPr/>
        </p:nvGrpSpPr>
        <p:grpSpPr bwMode="blackWhite">
          <a:xfrm>
            <a:off x="521207" y="4187549"/>
            <a:ext cx="612591" cy="429551"/>
            <a:chOff x="6953426" y="691561"/>
            <a:chExt cx="612591" cy="429551"/>
          </a:xfrm>
        </p:grpSpPr>
        <p:sp>
          <p:nvSpPr>
            <p:cNvPr id="38" name="Oval 37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39" name="Caixa de texto 38" descr="Número 4"/>
            <p:cNvSpPr txBox="1">
              <a:spLocks noChangeAspect="1"/>
            </p:cNvSpPr>
            <p:nvPr/>
          </p:nvSpPr>
          <p:spPr bwMode="blackWhite">
            <a:xfrm>
              <a:off x="6953426" y="691561"/>
              <a:ext cx="612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Espaço Reservado para Conteúdo 17"/>
          <p:cNvSpPr txBox="1">
            <a:spLocks/>
          </p:cNvSpPr>
          <p:nvPr/>
        </p:nvSpPr>
        <p:spPr>
          <a:xfrm>
            <a:off x="970057" y="4232029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Retrabalho no atendimento 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Proposta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B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Validação das evidências no chat antes do atendimento , pergunta obrigatória no chat.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B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Isso sem alterar a árvore já existente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pt-BR" sz="14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B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 da otimização, o TMA cai pois o tempo passa a ser :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B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Analise + orientação e não mais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pt-B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Procura + correção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 objetivo da otimização é reduzir o TMA, garantindo que o tempo do atendimento seja dedicado à análise e orientação técnica, e não à identificação de pendências já conhecidas.</a:t>
            </a:r>
            <a:endParaRPr 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pt-BR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pt-BR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A41B56-F497-EB0D-F265-BC12530D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1431010"/>
            <a:ext cx="4968240" cy="497893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D847F9F-CEE1-746E-A71C-A315DCF0F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919" y="1431010"/>
            <a:ext cx="6659974" cy="49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latin typeface="Segoe UI Light" panose="020B0502040204020203" pitchFamily="34" charset="0"/>
                <a:cs typeface="Segoe UI Light" panose="020B0502040204020203" pitchFamily="34" charset="0"/>
              </a:rPr>
              <a:t>Benefícios </a:t>
            </a:r>
          </a:p>
        </p:txBody>
      </p:sp>
      <p:grpSp>
        <p:nvGrpSpPr>
          <p:cNvPr id="13" name="Grupo 12" descr="Círculo pequeno com o número 1 dentro indicando a etapa 1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Oval 13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15" name="Caixa de texto 14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Espaço Reservado para Conteúdo 17"/>
          <p:cNvSpPr txBox="1">
            <a:spLocks/>
          </p:cNvSpPr>
          <p:nvPr/>
        </p:nvSpPr>
        <p:spPr>
          <a:xfrm>
            <a:off x="1066040" y="1958189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Redução de chamadas repetidas.</a:t>
            </a:r>
          </a:p>
        </p:txBody>
      </p:sp>
      <p:grpSp>
        <p:nvGrpSpPr>
          <p:cNvPr id="18" name="Grupo 17" descr="Círculo pequeno com o número 2 dentro indicando a etapa 2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Oval 22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24" name="Caixa de texto 23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Espaço Reservado para Conteúdo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Otimização do tempo do operador</a:t>
            </a:r>
          </a:p>
        </p:txBody>
      </p:sp>
      <p:grpSp>
        <p:nvGrpSpPr>
          <p:cNvPr id="26" name="Grupo 25" descr="Círculo pequeno com o número 3 dentro indicando a etapa 3"/>
          <p:cNvGrpSpPr/>
          <p:nvPr/>
        </p:nvGrpSpPr>
        <p:grpSpPr bwMode="blackWhite">
          <a:xfrm>
            <a:off x="556195" y="3570923"/>
            <a:ext cx="558179" cy="409838"/>
            <a:chOff x="6953426" y="711274"/>
            <a:chExt cx="558179" cy="409838"/>
          </a:xfrm>
        </p:grpSpPr>
        <p:sp>
          <p:nvSpPr>
            <p:cNvPr id="27" name="Oval 26" descr="Círculo pequen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28" name="Caixa de texto 27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Espaço Reservado para Conteúdo 17"/>
          <p:cNvSpPr txBox="1">
            <a:spLocks/>
          </p:cNvSpPr>
          <p:nvPr/>
        </p:nvSpPr>
        <p:spPr>
          <a:xfrm>
            <a:off x="1109319" y="3588045"/>
            <a:ext cx="2784602" cy="1327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 nos indicadores </a:t>
            </a:r>
          </a:p>
        </p:txBody>
      </p:sp>
      <p:sp>
        <p:nvSpPr>
          <p:cNvPr id="17" name="Espaço Reservado para Conteúdo 17"/>
          <p:cNvSpPr txBox="1">
            <a:spLocks/>
          </p:cNvSpPr>
          <p:nvPr/>
        </p:nvSpPr>
        <p:spPr>
          <a:xfrm>
            <a:off x="1153107" y="4344232"/>
            <a:ext cx="2925734" cy="699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BR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Aplicação do principio Lean</a:t>
            </a:r>
            <a:endParaRPr lang="pt-BR" b="1" dirty="0">
              <a:solidFill>
                <a:schemeClr val="tx1"/>
              </a:solidFill>
            </a:endParaRPr>
          </a:p>
        </p:txBody>
      </p:sp>
      <p:cxnSp>
        <p:nvCxnSpPr>
          <p:cNvPr id="20" name="Conector Reto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680978" y="1401740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25" descr="Círculo pequeno com o número 3 dentro indicando a etapa 3">
            <a:extLst>
              <a:ext uri="{FF2B5EF4-FFF2-40B4-BE49-F238E27FC236}">
                <a16:creationId xmlns:a16="http://schemas.microsoft.com/office/drawing/2014/main" id="{B78B1CFD-448E-8A1D-9D4E-4344713EF395}"/>
              </a:ext>
            </a:extLst>
          </p:cNvPr>
          <p:cNvGrpSpPr/>
          <p:nvPr/>
        </p:nvGrpSpPr>
        <p:grpSpPr bwMode="blackWhite">
          <a:xfrm>
            <a:off x="569094" y="4406350"/>
            <a:ext cx="558179" cy="409838"/>
            <a:chOff x="6953426" y="711274"/>
            <a:chExt cx="558179" cy="409838"/>
          </a:xfrm>
        </p:grpSpPr>
        <p:sp>
          <p:nvSpPr>
            <p:cNvPr id="7" name="Oval 26" descr="Círculo pequeno">
              <a:extLst>
                <a:ext uri="{FF2B5EF4-FFF2-40B4-BE49-F238E27FC236}">
                  <a16:creationId xmlns:a16="http://schemas.microsoft.com/office/drawing/2014/main" id="{A18F300F-61B2-F7C6-04F8-ADCEAF4E912D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/>
            </a:p>
          </p:txBody>
        </p:sp>
        <p:sp>
          <p:nvSpPr>
            <p:cNvPr id="8" name="Caixa de texto 27" descr="Número 3">
              <a:extLst>
                <a:ext uri="{FF2B5EF4-FFF2-40B4-BE49-F238E27FC236}">
                  <a16:creationId xmlns:a16="http://schemas.microsoft.com/office/drawing/2014/main" id="{5F59D41F-66F5-51DD-7410-6B9BC4671E7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BR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796E019-3F81-68C8-2544-B7535652328D}"/>
              </a:ext>
            </a:extLst>
          </p:cNvPr>
          <p:cNvSpPr txBox="1"/>
          <p:nvPr/>
        </p:nvSpPr>
        <p:spPr>
          <a:xfrm>
            <a:off x="5129937" y="2417212"/>
            <a:ext cx="5908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endParaRPr lang="pt-BR" dirty="0"/>
          </a:p>
        </p:txBody>
      </p:sp>
      <p:pic>
        <p:nvPicPr>
          <p:cNvPr id="1030" name="Imagem 1029">
            <a:extLst>
              <a:ext uri="{FF2B5EF4-FFF2-40B4-BE49-F238E27FC236}">
                <a16:creationId xmlns:a16="http://schemas.microsoft.com/office/drawing/2014/main" id="{FCAC75CE-E24F-22CC-FEB0-E7C48049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13" y="1401740"/>
            <a:ext cx="5908949" cy="475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5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{E5085E2F-F20F-4A79-9E1C-76DF90C1B05C}TF2989475c-5427-4edb-9ec1-00f4ce72165b601f1099_win32-a7b60946d762</Template>
  <TotalTime>151</TotalTime>
  <Words>215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Segoe UI Semibold</vt:lpstr>
      <vt:lpstr>Personalizado</vt:lpstr>
      <vt:lpstr>Otimização do Chat Técnico – Validação de Evidências</vt:lpstr>
      <vt:lpstr>Fluxo de Atendimento – Chat Motivo Técnico</vt:lpstr>
      <vt:lpstr>Problema</vt:lpstr>
      <vt:lpstr>Proposta</vt:lpstr>
      <vt:lpstr>Benefícios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Gizelly Lima</dc:creator>
  <cp:keywords/>
  <cp:lastModifiedBy>Gizelly Lima</cp:lastModifiedBy>
  <cp:revision>9</cp:revision>
  <dcterms:created xsi:type="dcterms:W3CDTF">2025-12-19T23:13:17Z</dcterms:created>
  <dcterms:modified xsi:type="dcterms:W3CDTF">2025-12-20T01:45:00Z</dcterms:modified>
  <cp:version/>
</cp:coreProperties>
</file>